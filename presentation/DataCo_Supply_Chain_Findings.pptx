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0000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FA8D6"/>
                </a:solidFill>
                <a:latin typeface="Arial"/>
              </a:rPr>
              <a:t>DATACO SUPPLY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6500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E7ECEF"/>
                </a:solidFill>
                <a:latin typeface="Arial"/>
              </a:rPr>
              <a:t>Signal vs Noise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3050000"/>
            <a:ext cx="1188720" cy="38100"/>
          </a:xfrm>
          <a:prstGeom prst="rect">
            <a:avLst/>
          </a:prstGeom>
          <a:solidFill>
            <a:srgbClr val="6FA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230000"/>
            <a:ext cx="10515600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AAB4BC"/>
                </a:solidFill>
                <a:latin typeface="Arial"/>
              </a:rPr>
              <a:t>Three years of order data, six questions — and three data problems worth catching before trusting any of the six answers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5000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D7982"/>
                </a:solidFill>
                <a:latin typeface="Arial"/>
              </a:rPr>
              <a:t>Order-level data review  |  180,519 order lines, Jan 2015 – Jan 2018  |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FA8D6"/>
                </a:solidFill>
                <a:latin typeface="Arial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E7ECEF"/>
                </a:solidFill>
                <a:latin typeface="Arial"/>
              </a:rPr>
              <a:t>Four findings, four calls to make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2A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587370"/>
            <a:ext cx="11091672" cy="9525"/>
          </a:xfrm>
          <a:prstGeom prst="rect">
            <a:avLst/>
          </a:prstGeom>
          <a:solidFill>
            <a:srgbClr val="2A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685800" cy="722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6FA8D6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74519"/>
            <a:ext cx="2834640" cy="722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E7ECEF"/>
                </a:solidFill>
                <a:latin typeface="Arial"/>
              </a:rPr>
              <a:t>Data trust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1874519"/>
            <a:ext cx="7223760" cy="722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AAB4BC"/>
                </a:solidFill>
                <a:latin typeface="Arial"/>
              </a:rPr>
              <a:t>Can we trust the growth number this data seems to show?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309746"/>
            <a:ext cx="11091672" cy="9525"/>
          </a:xfrm>
          <a:prstGeom prst="rect">
            <a:avLst/>
          </a:prstGeom>
          <a:solidFill>
            <a:srgbClr val="2A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96895"/>
            <a:ext cx="685800" cy="722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6FA8D6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596895"/>
            <a:ext cx="2834640" cy="722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E7ECEF"/>
                </a:solidFill>
                <a:latin typeface="Arial"/>
              </a:rPr>
              <a:t>Fraud &amp; delivery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596895"/>
            <a:ext cx="7223760" cy="722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AAB4BC"/>
                </a:solidFill>
                <a:latin typeface="Arial"/>
              </a:rPr>
              <a:t>Are fraud and late deliveries actually costing us profit?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032122"/>
            <a:ext cx="11091672" cy="9525"/>
          </a:xfrm>
          <a:prstGeom prst="rect">
            <a:avLst/>
          </a:prstGeom>
          <a:solidFill>
            <a:srgbClr val="2A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319271"/>
            <a:ext cx="685800" cy="722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6FA8D6"/>
                </a:solidFill>
                <a:latin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319271"/>
            <a:ext cx="2834640" cy="722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E7ECEF"/>
                </a:solidFill>
                <a:latin typeface="Arial"/>
              </a:rPr>
              <a:t>Region rotation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319271"/>
            <a:ext cx="7223760" cy="722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AAB4BC"/>
                </a:solidFill>
                <a:latin typeface="Arial"/>
              </a:rPr>
              <a:t>Which regions are actually growing or declining?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754498"/>
            <a:ext cx="11091672" cy="9525"/>
          </a:xfrm>
          <a:prstGeom prst="rect">
            <a:avLst/>
          </a:prstGeom>
          <a:solidFill>
            <a:srgbClr val="2A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041647"/>
            <a:ext cx="685800" cy="722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6FA8D6"/>
                </a:solidFill>
                <a:latin typeface="Arial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41647"/>
            <a:ext cx="2834640" cy="722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E7ECEF"/>
                </a:solidFill>
                <a:latin typeface="Arial"/>
              </a:rPr>
              <a:t>Discount program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041647"/>
            <a:ext cx="7223760" cy="722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AAB4BC"/>
                </a:solidFill>
                <a:latin typeface="Arial"/>
              </a:rPr>
              <a:t>Is the discount program actually working?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2A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6D7982"/>
                </a:solidFill>
                <a:latin typeface="Arial"/>
              </a:rPr>
              <a:t>DATACO SUPPLY CHAIN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D798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FA8D6"/>
                </a:solidFill>
                <a:latin typeface="Arial"/>
              </a:rPr>
              <a:t>DATA &amp; HEADLINE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E7ECEF"/>
                </a:solidFill>
                <a:latin typeface="Arial"/>
              </a:rPr>
              <a:t>Total sales and profit by year — a healthy, steady business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2A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eadlin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39694"/>
            <a:ext cx="7086600" cy="389301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82127" y="1920240"/>
            <a:ext cx="1821942" cy="1908810"/>
          </a:xfrm>
          <a:prstGeom prst="roundRect">
            <a:avLst>
              <a:gd name="adj" fmla="val 6000"/>
            </a:avLst>
          </a:prstGeom>
          <a:solidFill>
            <a:srgbClr val="17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2127" y="2070240"/>
            <a:ext cx="1501942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6FA8D6"/>
                </a:solidFill>
                <a:latin typeface="Arial"/>
              </a:rPr>
              <a:t>180,519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2127" y="2560240"/>
            <a:ext cx="1501942" cy="11688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AB4BC"/>
                </a:solidFill>
                <a:latin typeface="Arial"/>
              </a:rPr>
              <a:t>order lines, full raw dataset (Jan 2015 – Jan 2018)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18369" y="1920240"/>
            <a:ext cx="1821942" cy="1908810"/>
          </a:xfrm>
          <a:prstGeom prst="roundRect">
            <a:avLst>
              <a:gd name="adj" fmla="val 6000"/>
            </a:avLst>
          </a:prstGeom>
          <a:solidFill>
            <a:srgbClr val="17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78369" y="2070240"/>
            <a:ext cx="1501942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6FA8D6"/>
                </a:solidFill>
                <a:latin typeface="Arial"/>
              </a:rPr>
              <a:t>12,330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78369" y="2560240"/>
            <a:ext cx="1501942" cy="11688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AB4BC"/>
                </a:solidFill>
                <a:latin typeface="Arial"/>
              </a:rPr>
              <a:t>verified real customers, clean analysis window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82127" y="3943350"/>
            <a:ext cx="1821942" cy="1908810"/>
          </a:xfrm>
          <a:prstGeom prst="roundRect">
            <a:avLst>
              <a:gd name="adj" fmla="val 6000"/>
            </a:avLst>
          </a:prstGeom>
          <a:solidFill>
            <a:srgbClr val="17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2127" y="4093350"/>
            <a:ext cx="1501942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6FA8D6"/>
                </a:solidFill>
                <a:latin typeface="Arial"/>
              </a:rPr>
              <a:t>+4.7%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2127" y="4583350"/>
            <a:ext cx="1501942" cy="11688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AB4BC"/>
                </a:solidFill>
                <a:latin typeface="Arial"/>
              </a:rPr>
              <a:t>revenue growth, 2017 vs. 2016 (like-for-like, Jan–Sep)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18369" y="3943350"/>
            <a:ext cx="1821942" cy="1908810"/>
          </a:xfrm>
          <a:prstGeom prst="roundRect">
            <a:avLst>
              <a:gd name="adj" fmla="val 6000"/>
            </a:avLst>
          </a:prstGeom>
          <a:solidFill>
            <a:srgbClr val="17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78369" y="4093350"/>
            <a:ext cx="1501942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6FA8D6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78369" y="4583350"/>
            <a:ext cx="1501942" cy="11688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AB4BC"/>
                </a:solidFill>
                <a:latin typeface="Arial"/>
              </a:rPr>
              <a:t>data-generation artifacts found and corrected for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924145"/>
            <a:ext cx="7086600" cy="504087"/>
          </a:xfrm>
          <a:prstGeom prst="roundRect">
            <a:avLst>
              <a:gd name="adj" fmla="val 6000"/>
            </a:avLst>
          </a:prstGeom>
          <a:solidFill>
            <a:srgbClr val="1C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924145"/>
            <a:ext cx="6629400" cy="50408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AB4BC"/>
                </a:solidFill>
                <a:latin typeface="Arial"/>
              </a:rPr>
              <a:t>2015–2017 shown as full calendar years; 2018 excluded (one partial month only). 2017's dip is explained in Insight 1 — its last quarter falls inside a data-recording change, not a real sales decline: the like-for-like Jan–Sep read is +4.7%.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2A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6D7982"/>
                </a:solidFill>
                <a:latin typeface="Arial"/>
              </a:rPr>
              <a:t>DATACO SUPPLY CHAIN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D798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554480"/>
            <a:ext cx="3657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>
                <a:solidFill>
                  <a:srgbClr val="3A4650"/>
                </a:solidFill>
                <a:latin typeface="Arial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6500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7ECEF"/>
                </a:solidFill>
                <a:latin typeface="Arial"/>
              </a:rPr>
              <a:t>Data Trust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3380000"/>
            <a:ext cx="1188720" cy="38100"/>
          </a:xfrm>
          <a:prstGeom prst="rect">
            <a:avLst/>
          </a:prstGeom>
          <a:solidFill>
            <a:srgbClr val="6FA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5600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6FA8D6"/>
                </a:solidFill>
                <a:latin typeface="Arial"/>
              </a:rPr>
              <a:t>Can we trust the growth number this data seems to show?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5000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D7982"/>
                </a:solidFill>
                <a:latin typeface="Arial"/>
              </a:rPr>
              <a:t>INSIGHT 1 OF 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2A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6D7982"/>
                </a:solidFill>
                <a:latin typeface="Arial"/>
              </a:rPr>
              <a:t>DATACO SUPPLY CHAIN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D798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FA8D6"/>
                </a:solidFill>
                <a:latin typeface="Arial"/>
              </a:rPr>
              <a:t>INSIGHT 1 OF 4 — DATA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E7ECEF"/>
                </a:solidFill>
                <a:latin typeface="Arial"/>
              </a:rPr>
              <a:t>Order composition collapses in November 2017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2A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ory1_chart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39694"/>
            <a:ext cx="7086600" cy="389301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82127" y="1920240"/>
            <a:ext cx="3758184" cy="3931920"/>
          </a:xfrm>
          <a:prstGeom prst="roundRect">
            <a:avLst>
              <a:gd name="adj" fmla="val 6000"/>
            </a:avLst>
          </a:prstGeom>
          <a:solidFill>
            <a:srgbClr val="17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74735" y="2212848"/>
            <a:ext cx="31729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>
                <a:solidFill>
                  <a:srgbClr val="6FA8D6"/>
                </a:solidFill>
                <a:latin typeface="Arial"/>
              </a:rPr>
              <a:t>1.00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74735" y="2970240"/>
            <a:ext cx="31729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AAB4BC"/>
                </a:solidFill>
                <a:latin typeface="Arial"/>
              </a:rPr>
              <a:t>Line items per order, Nov 2017 onward (was ~3.0)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74735" y="3570240"/>
            <a:ext cx="3172968" cy="1989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AAB4BC"/>
                </a:solidFill>
                <a:latin typeface="Arial"/>
              </a:rPr>
              <a:t>Average order value falls from $620 to $156 across the same months, while order counts hold steady or grow. That combination only makes sense as a change in how orders are recorded — not a change in demand.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2A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6D7982"/>
                </a:solidFill>
                <a:latin typeface="Arial"/>
              </a:rPr>
              <a:t>DATACO SUPPLY CHAIN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D798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FA8D6"/>
                </a:solidFill>
                <a:latin typeface="Arial"/>
              </a:rPr>
              <a:t>INSIGHT 1 OF 4 — DATA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E7ECEF"/>
                </a:solidFill>
                <a:latin typeface="Arial"/>
              </a:rPr>
              <a:t>Margin doesn't move — even across that same boundary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2A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ory1_chart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39694"/>
            <a:ext cx="7086600" cy="389301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82127" y="1920240"/>
            <a:ext cx="3758184" cy="3931920"/>
          </a:xfrm>
          <a:prstGeom prst="roundRect">
            <a:avLst>
              <a:gd name="adj" fmla="val 6000"/>
            </a:avLst>
          </a:prstGeom>
          <a:solidFill>
            <a:srgbClr val="17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74735" y="2212848"/>
            <a:ext cx="31729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6FA8D6"/>
                </a:solidFill>
                <a:latin typeface="Arial"/>
              </a:rPr>
              <a:t>10.8–12.7%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74735" y="2970240"/>
            <a:ext cx="31729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AAB4BC"/>
                </a:solidFill>
                <a:latin typeface="Arial"/>
              </a:rPr>
              <a:t>Quarterly margin band, every quarter Q1 2015 – Q1 2018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74735" y="3570240"/>
            <a:ext cx="3172968" cy="1989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AAB4BC"/>
                </a:solidFill>
                <a:latin typeface="Arial"/>
              </a:rPr>
              <a:t>Order counts even jump the quarter this happens, from ~5,200 to 6,280 — more orders, just recorded smaller. Margin, and the underlying business, are unaffected; only revenue-per-order and anything built on it needs correcting.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2A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6D7982"/>
                </a:solidFill>
                <a:latin typeface="Arial"/>
              </a:rPr>
              <a:t>DATACO SUPPLY CHAIN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D798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FA8D6"/>
                </a:solidFill>
                <a:latin typeface="Arial"/>
              </a:rPr>
              <a:t>INSIGHT 1 OF 4 — DATA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E7ECEF"/>
                </a:solidFill>
                <a:latin typeface="Arial"/>
              </a:rPr>
              <a:t>Recommendation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2A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50" b="0">
                <a:solidFill>
                  <a:srgbClr val="AAB4BC"/>
                </a:solidFill>
                <a:latin typeface="Arial"/>
              </a:rPr>
              <a:t>Exclude or separately model October 2017 onward in any growth, trend, or cohort analysis on this dataset — this is a data-engineering fix, not a business problem.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00" b="0">
                <a:solidFill>
                  <a:srgbClr val="AAB4B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50" b="1">
                <a:solidFill>
                  <a:srgbClr val="6FA8D6"/>
                </a:solidFill>
                <a:latin typeface="Arial"/>
              </a:rPr>
              <a:t>Do:  </a:t>
            </a:r>
            <a:r>
              <a:rPr sz="1750" b="0">
                <a:solidFill>
                  <a:srgbClr val="AAB4BC"/>
                </a:solidFill>
                <a:latin typeface="Arial"/>
              </a:rPr>
              <a:t>Flag the order-composition change to whoever owns this pipeline, alongside two related issues found the same way — a region-rotation pattern and a batch of customer IDs that only exist after this date.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00" b="0">
                <a:solidFill>
                  <a:srgbClr val="AAB4B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50" b="1">
                <a:solidFill>
                  <a:srgbClr val="6D7982"/>
                </a:solidFill>
                <a:latin typeface="Arial"/>
              </a:rPr>
              <a:t>Watch for:  </a:t>
            </a:r>
            <a:r>
              <a:rPr sz="1750" b="0">
                <a:solidFill>
                  <a:srgbClr val="AAB4BC"/>
                </a:solidFill>
                <a:latin typeface="Arial"/>
              </a:rPr>
              <a:t>The underlying business is healthy: +4.7% YoY growth and a stable margin band on the window that can be trusted.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2A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6D7982"/>
                </a:solidFill>
                <a:latin typeface="Arial"/>
              </a:rPr>
              <a:t>DATACO SUPPLY 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D798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554480"/>
            <a:ext cx="3657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>
                <a:solidFill>
                  <a:srgbClr val="3A4650"/>
                </a:solidFill>
                <a:latin typeface="Arial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6500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7ECEF"/>
                </a:solidFill>
                <a:latin typeface="Arial"/>
              </a:rPr>
              <a:t>Fraud &amp; Delivery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3380000"/>
            <a:ext cx="1188720" cy="38100"/>
          </a:xfrm>
          <a:prstGeom prst="rect">
            <a:avLst/>
          </a:prstGeom>
          <a:solidFill>
            <a:srgbClr val="6FA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5600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6FA8D6"/>
                </a:solidFill>
                <a:latin typeface="Arial"/>
              </a:rPr>
              <a:t>Are fraud and late deliveries actually costing us profit?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5000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D7982"/>
                </a:solidFill>
                <a:latin typeface="Arial"/>
              </a:rPr>
              <a:t>INSIGHT 2 OF 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2A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6D7982"/>
                </a:solidFill>
                <a:latin typeface="Arial"/>
              </a:rPr>
              <a:t>DATACO SUPPLY CHAIN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D798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FA8D6"/>
                </a:solidFill>
                <a:latin typeface="Arial"/>
              </a:rPr>
              <a:t>INSIGHT 2 OF 4 — FRAUD &amp; DELIVERY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E7ECEF"/>
                </a:solidFill>
                <a:latin typeface="Arial"/>
              </a:rPr>
              <a:t>Fraud, late, and canceled orders book normal profit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2A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ory3_chart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39694"/>
            <a:ext cx="7086600" cy="389301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82127" y="1920240"/>
            <a:ext cx="3758184" cy="3931920"/>
          </a:xfrm>
          <a:prstGeom prst="roundRect">
            <a:avLst>
              <a:gd name="adj" fmla="val 6000"/>
            </a:avLst>
          </a:prstGeom>
          <a:solidFill>
            <a:srgbClr val="17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74735" y="2212848"/>
            <a:ext cx="31729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>
                <a:solidFill>
                  <a:srgbClr val="6FA8D6"/>
                </a:solidFill>
                <a:latin typeface="Arial"/>
              </a:rPr>
              <a:t>12.04%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74735" y="2970240"/>
            <a:ext cx="31729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AAB4BC"/>
                </a:solidFill>
                <a:latin typeface="Arial"/>
              </a:rPr>
              <a:t>Company average margin — every order-status category lands within ~1pt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74735" y="3570240"/>
            <a:ext cx="3172968" cy="1989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AAB4BC"/>
                </a:solidFill>
                <a:latin typeface="Arial"/>
              </a:rPr>
              <a:t>Late-delivery, suspected-fraud, and canceled orders all book profit close to the company average, both company-wide and inside Cardio Equipment specifically. The profit field simply isn't written down differently for these statuses — there's no recoverable dollar pool here.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2A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6D7982"/>
                </a:solidFill>
                <a:latin typeface="Arial"/>
              </a:rPr>
              <a:t>DATACO SUPPLY CHAIN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D798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FA8D6"/>
                </a:solidFill>
                <a:latin typeface="Arial"/>
              </a:rPr>
              <a:t>INSIGHT 2 OF 4 — FRAUD &amp; DELIVERY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E7ECEF"/>
                </a:solidFill>
                <a:latin typeface="Arial"/>
              </a:rPr>
              <a:t>But the rate of these events is a real regional signal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2A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ory3_chart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39694"/>
            <a:ext cx="11091672" cy="338328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414416"/>
            <a:ext cx="11091672" cy="1013816"/>
          </a:xfrm>
          <a:prstGeom prst="roundRect">
            <a:avLst>
              <a:gd name="adj" fmla="val 6000"/>
            </a:avLst>
          </a:prstGeom>
          <a:solidFill>
            <a:srgbClr val="17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414416"/>
            <a:ext cx="10634472" cy="1013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AAB4BC"/>
                </a:solidFill>
                <a:latin typeface="Arial"/>
              </a:rPr>
              <a:t>A permutation test confirms region-level spread in fraud/late-delivery rates is real (p&lt;0.01); category-level spread is just noise. Western Europe's 2.61% fraud rate is modest but, on 25,000+ orders, the strongest statistical signal in the dataset. Canada pairs the lowest late-delivery rate with an elevated (small-sample) fraud rate; Central Africa and South Asia run the highest late-delivery rates, ~56–58%.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2A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6D7982"/>
                </a:solidFill>
                <a:latin typeface="Arial"/>
              </a:rPr>
              <a:t>DATACO SUPPLY 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D798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FA8D6"/>
                </a:solidFill>
                <a:latin typeface="Arial"/>
              </a:rPr>
              <a:t>INSIGHT 2 OF 4 — FRAUD &amp; DELIVERY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E7ECEF"/>
                </a:solidFill>
                <a:latin typeface="Arial"/>
              </a:rPr>
              <a:t>Recommendation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2A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50" b="0">
                <a:solidFill>
                  <a:srgbClr val="AAB4BC"/>
                </a:solidFill>
                <a:latin typeface="Arial"/>
              </a:rPr>
              <a:t>Treat this as an operational review, not a profit-recovery project — the rate gap is real even though there's no profit sitting behind it to recover.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00" b="0">
                <a:solidFill>
                  <a:srgbClr val="AAB4B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50" b="1">
                <a:solidFill>
                  <a:srgbClr val="6FA8D6"/>
                </a:solidFill>
                <a:latin typeface="Arial"/>
              </a:rPr>
              <a:t>Do:  </a:t>
            </a:r>
            <a:r>
              <a:rPr sz="1750" b="0">
                <a:solidFill>
                  <a:srgbClr val="AAB4BC"/>
                </a:solidFill>
                <a:latin typeface="Arial"/>
              </a:rPr>
              <a:t>Western Europe gets a fraud-controls review; Central Africa and South Asia get a delivery/logistics review.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00" b="0">
                <a:solidFill>
                  <a:srgbClr val="AAB4B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50" b="1">
                <a:solidFill>
                  <a:srgbClr val="6D7982"/>
                </a:solidFill>
                <a:latin typeface="Arial"/>
              </a:rPr>
              <a:t>Watch for:  </a:t>
            </a:r>
            <a:r>
              <a:rPr sz="1750" b="0">
                <a:solidFill>
                  <a:srgbClr val="AAB4BC"/>
                </a:solidFill>
                <a:latin typeface="Arial"/>
              </a:rPr>
              <a:t>Neither traces back to shipping-method mix — already ruled out as an explanation.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2A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6D7982"/>
                </a:solidFill>
                <a:latin typeface="Arial"/>
              </a:rPr>
              <a:t>DATACO SUPPLY 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D798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554480"/>
            <a:ext cx="3657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>
                <a:solidFill>
                  <a:srgbClr val="3A4650"/>
                </a:solidFill>
                <a:latin typeface="Arial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6500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7ECEF"/>
                </a:solidFill>
                <a:latin typeface="Arial"/>
              </a:rPr>
              <a:t>Region Rotation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3380000"/>
            <a:ext cx="1188720" cy="38100"/>
          </a:xfrm>
          <a:prstGeom prst="rect">
            <a:avLst/>
          </a:prstGeom>
          <a:solidFill>
            <a:srgbClr val="6FA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5600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6FA8D6"/>
                </a:solidFill>
                <a:latin typeface="Arial"/>
              </a:rPr>
              <a:t>Which regions are actually growing or declining?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5000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D7982"/>
                </a:solidFill>
                <a:latin typeface="Arial"/>
              </a:rPr>
              <a:t>INSIGHT 3 OF 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2A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6D7982"/>
                </a:solidFill>
                <a:latin typeface="Arial"/>
              </a:rPr>
              <a:t>DATACO SUPPLY CHAIN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D798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FA8D6"/>
                </a:solidFill>
                <a:latin typeface="Arial"/>
              </a:rPr>
              <a:t>INSIGHT 3 OF 4 — REGION ROTATION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E7ECEF"/>
                </a:solidFill>
                <a:latin typeface="Arial"/>
              </a:rPr>
              <a:t>Most regions are only active 5–6 of 36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2A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ory4_chart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39694"/>
            <a:ext cx="11091672" cy="338328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414416"/>
            <a:ext cx="11091672" cy="1013816"/>
          </a:xfrm>
          <a:prstGeom prst="roundRect">
            <a:avLst>
              <a:gd name="adj" fmla="val 6000"/>
            </a:avLst>
          </a:prstGeom>
          <a:solidFill>
            <a:srgbClr val="17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414416"/>
            <a:ext cx="10634472" cy="1013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AAB4BC"/>
                </a:solidFill>
                <a:latin typeface="Arial"/>
              </a:rPr>
              <a:t>19 of 23 regions go permanently dark before the dataset ends. Regions arrive and disappear in clean rotating cohorts, not organic activity. Company-wide order volume stays flat throughout — including through what first looked like a 19-month regional dead zone. That's a data-generation rotation, not a market signal.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2A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6D7982"/>
                </a:solidFill>
                <a:latin typeface="Arial"/>
              </a:rPr>
              <a:t>DATACO SUPPLY 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D798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FA8D6"/>
                </a:solidFill>
                <a:latin typeface="Arial"/>
              </a:rPr>
              <a:t>INSIGHT 3 OF 4 — REGION ROTATION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E7ECEF"/>
                </a:solidFill>
                <a:latin typeface="Arial"/>
              </a:rPr>
              <a:t>Regions move together in cohorts, not independently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2A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ory4_chart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39694"/>
            <a:ext cx="7086600" cy="389301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82127" y="1920240"/>
            <a:ext cx="3758184" cy="3931920"/>
          </a:xfrm>
          <a:prstGeom prst="roundRect">
            <a:avLst>
              <a:gd name="adj" fmla="val 6000"/>
            </a:avLst>
          </a:prstGeom>
          <a:solidFill>
            <a:srgbClr val="17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74735" y="2212848"/>
            <a:ext cx="31729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>
                <a:solidFill>
                  <a:srgbClr val="5FBF90"/>
                </a:solidFill>
                <a:latin typeface="Arial"/>
              </a:rPr>
              <a:t>0 of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74735" y="2970240"/>
            <a:ext cx="31729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AAB4BC"/>
                </a:solidFill>
                <a:latin typeface="Arial"/>
              </a:rPr>
              <a:t>Regions that diverged from their cohort-mates' direction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74735" y="3570240"/>
            <a:ext cx="3172968" cy="1989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AAB4BC"/>
                </a:solidFill>
                <a:latin typeface="Arial"/>
              </a:rPr>
              <a:t>Only 7 of 23 regions even have two comparable time windows to test. All 3 Latin America regions decline together; all 3 Europe regions grow together — every time, same direction as their cohort. Once corrected, Central America overtakes Western Europe as the #1 region by profit dollars.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2A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6D7982"/>
                </a:solidFill>
                <a:latin typeface="Arial"/>
              </a:rPr>
              <a:t>DATACO SUPPLY CHAIN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D798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FA8D6"/>
                </a:solidFill>
                <a:latin typeface="Arial"/>
              </a:rPr>
              <a:t>INSIGHT 3 OF 4 — REGION ROTATION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E7ECEF"/>
                </a:solidFill>
                <a:latin typeface="Arial"/>
              </a:rPr>
              <a:t>Recommendation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2A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50" b="0">
                <a:solidFill>
                  <a:srgbClr val="AAB4BC"/>
                </a:solidFill>
                <a:latin typeface="Arial"/>
              </a:rPr>
              <a:t>Stop reading region trend or ranking charts on this dataset at face value.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00" b="0">
                <a:solidFill>
                  <a:srgbClr val="AAB4B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50" b="1">
                <a:solidFill>
                  <a:srgbClr val="6FA8D6"/>
                </a:solidFill>
                <a:latin typeface="Arial"/>
              </a:rPr>
              <a:t>Do:  </a:t>
            </a:r>
            <a:r>
              <a:rPr sz="1750" b="0">
                <a:solidFill>
                  <a:srgbClr val="AAB4BC"/>
                </a:solidFill>
                <a:latin typeface="Arial"/>
              </a:rPr>
              <a:t>Use the corrected Jan 2015 – Sep 2017 window and check each region's active-month count before quoting any regional ranking or trend.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00" b="0">
                <a:solidFill>
                  <a:srgbClr val="AAB4B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50" b="1">
                <a:solidFill>
                  <a:srgbClr val="6D7982"/>
                </a:solidFill>
                <a:latin typeface="Arial"/>
              </a:rPr>
              <a:t>Watch for:  </a:t>
            </a:r>
            <a:r>
              <a:rPr sz="1750" b="0">
                <a:solidFill>
                  <a:srgbClr val="AAB4BC"/>
                </a:solidFill>
                <a:latin typeface="Arial"/>
              </a:rPr>
              <a:t>This dataset can't honestly answer “which region should we invest in” — what it can confirm is Central America is the real #1 region by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2A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6D7982"/>
                </a:solidFill>
                <a:latin typeface="Arial"/>
              </a:rPr>
              <a:t>DATACO SUPPLY 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D798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554480"/>
            <a:ext cx="3657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>
                <a:solidFill>
                  <a:srgbClr val="3A4650"/>
                </a:solidFill>
                <a:latin typeface="Arial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6500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7ECEF"/>
                </a:solidFill>
                <a:latin typeface="Arial"/>
              </a:rPr>
              <a:t>Discount Program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3380000"/>
            <a:ext cx="1188720" cy="38100"/>
          </a:xfrm>
          <a:prstGeom prst="rect">
            <a:avLst/>
          </a:prstGeom>
          <a:solidFill>
            <a:srgbClr val="6FA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5600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6FA8D6"/>
                </a:solidFill>
                <a:latin typeface="Arial"/>
              </a:rPr>
              <a:t>Is the discount program actually working?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5000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D7982"/>
                </a:solidFill>
                <a:latin typeface="Arial"/>
              </a:rPr>
              <a:t>INSIGHT 4 OF 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2A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6D7982"/>
                </a:solidFill>
                <a:latin typeface="Arial"/>
              </a:rPr>
              <a:t>DATACO SUPPLY CHAIN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D798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FA8D6"/>
                </a:solidFill>
                <a:latin typeface="Arial"/>
              </a:rPr>
              <a:t>INSIGHT 4 OF 4 — DISCOUNT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E7ECEF"/>
                </a:solidFill>
                <a:latin typeface="Arial"/>
              </a:rPr>
              <a:t>The discount “sweet spot” survives reshuffling — that's 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2A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ory6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39694"/>
            <a:ext cx="7086600" cy="389301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82127" y="1920240"/>
            <a:ext cx="3758184" cy="3931920"/>
          </a:xfrm>
          <a:prstGeom prst="roundRect">
            <a:avLst>
              <a:gd name="adj" fmla="val 6000"/>
            </a:avLst>
          </a:prstGeom>
          <a:solidFill>
            <a:srgbClr val="17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74735" y="2212848"/>
            <a:ext cx="31729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6D7982"/>
                </a:solidFill>
                <a:latin typeface="Arial"/>
              </a:rPr>
              <a:t>≈ identical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74735" y="2970240"/>
            <a:ext cx="31729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AAB4BC"/>
                </a:solidFill>
                <a:latin typeface="Arial"/>
              </a:rPr>
              <a:t>Real order pattern vs. a randomly shuffled null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74735" y="3570240"/>
            <a:ext cx="3172968" cy="1989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AAB4BC"/>
                </a:solidFill>
                <a:latin typeface="Arial"/>
              </a:rPr>
              <a:t>Orders averaging a 6–15% discount carry ~3x the line items of orders at 0% or 21–25% — looked like a real threshold. Reshuffle every discount value at random and rerun the same aggregation: the identical curve comes back. Order size creates this pattern by chance, not discount level.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2A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6D7982"/>
                </a:solidFill>
                <a:latin typeface="Arial"/>
              </a:rPr>
              <a:t>DATACO SUPPLY CHAIN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D798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FA8D6"/>
                </a:solidFill>
                <a:latin typeface="Arial"/>
              </a:rPr>
              <a:t>INSIGHT 4 OF 4 — DISCOUNT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E7ECEF"/>
                </a:solidFill>
                <a:latin typeface="Arial"/>
              </a:rPr>
              <a:t>Recommendation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2A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50" b="0">
                <a:solidFill>
                  <a:srgbClr val="AAB4BC"/>
                </a:solidFill>
                <a:latin typeface="Arial"/>
              </a:rPr>
              <a:t>Run an actual randomized experiment before trusting anything discount-related in this data.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00" b="0">
                <a:solidFill>
                  <a:srgbClr val="AAB4B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50" b="1">
                <a:solidFill>
                  <a:srgbClr val="6FA8D6"/>
                </a:solidFill>
                <a:latin typeface="Arial"/>
              </a:rPr>
              <a:t>Do:  </a:t>
            </a:r>
            <a:r>
              <a:rPr sz="1750" b="0">
                <a:solidFill>
                  <a:srgbClr val="AAB4BC"/>
                </a:solidFill>
                <a:latin typeface="Arial"/>
              </a:rPr>
              <a:t>Four arms — 0/10/20/35% — stratified by segment and category, conversion rate as the primary metric with margin as a guardrail; ~2,100 orders per arm detects a 5% lift in order value.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00" b="0">
                <a:solidFill>
                  <a:srgbClr val="AAB4B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50" b="1">
                <a:solidFill>
                  <a:srgbClr val="6D7982"/>
                </a:solidFill>
                <a:latin typeface="Arial"/>
              </a:rPr>
              <a:t>Watch for:  </a:t>
            </a:r>
            <a:r>
              <a:rPr sz="1750" b="0">
                <a:solidFill>
                  <a:srgbClr val="AAB4BC"/>
                </a:solidFill>
                <a:latin typeface="Arial"/>
              </a:rPr>
              <a:t>The real blocker isn't sample size — there's currently no record of “offered a discount, didn't buy.” Build that tracking before or during the test.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2A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6D7982"/>
                </a:solidFill>
                <a:latin typeface="Arial"/>
              </a:rPr>
              <a:t>DATACO SUPPLY 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D798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FA8D6"/>
                </a:solidFill>
                <a:latin typeface="Arial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E7ECEF"/>
                </a:solidFill>
                <a:latin typeface="Arial"/>
              </a:rPr>
              <a:t>Four findings, ranked by how sure we are — not by size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2A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6D7982"/>
                </a:solidFill>
                <a:latin typeface="Arial"/>
              </a:rPr>
              <a:t>Finding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37560" y="1874519"/>
            <a:ext cx="6300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6D7982"/>
                </a:solidFill>
                <a:latin typeface="Arial"/>
              </a:rPr>
              <a:t>Recommended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8360" y="1874519"/>
            <a:ext cx="18105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6D7982"/>
                </a:solidFill>
                <a:latin typeface="Arial"/>
              </a:rPr>
              <a:t>Confidence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12466"/>
            <a:ext cx="11091672" cy="9525"/>
          </a:xfrm>
          <a:prstGeom prst="rect">
            <a:avLst/>
          </a:prstGeom>
          <a:solidFill>
            <a:srgbClr val="2A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221991"/>
            <a:ext cx="26974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E7ECEF"/>
                </a:solidFill>
                <a:latin typeface="Arial"/>
              </a:rPr>
              <a:t>Growth number is real, once corrected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221991"/>
            <a:ext cx="63000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AAB4BC"/>
                </a:solidFill>
                <a:latin typeface="Arial"/>
              </a:rPr>
              <a:t>Exclude/model Oct 2017+ separately in all trend and cohort work; flag to data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38360" y="2221991"/>
            <a:ext cx="181051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5FBF90"/>
                </a:solidFill>
                <a:latin typeface="Arial"/>
              </a:rPr>
              <a:t>High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63239"/>
            <a:ext cx="11091672" cy="9525"/>
          </a:xfrm>
          <a:prstGeom prst="rect">
            <a:avLst/>
          </a:prstGeom>
          <a:solidFill>
            <a:srgbClr val="2A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072764"/>
            <a:ext cx="26974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E7ECEF"/>
                </a:solidFill>
                <a:latin typeface="Arial"/>
              </a:rPr>
              <a:t>Region rankings need the same correction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072764"/>
            <a:ext cx="63000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AAB4BC"/>
                </a:solidFill>
                <a:latin typeface="Arial"/>
              </a:rPr>
              <a:t>Adopt the corrected window + active-month check as the region-reporting standard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60" y="3072764"/>
            <a:ext cx="181051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5FBF90"/>
                </a:solidFill>
                <a:latin typeface="Arial"/>
              </a:rPr>
              <a:t>High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914012"/>
            <a:ext cx="11091672" cy="9525"/>
          </a:xfrm>
          <a:prstGeom prst="rect">
            <a:avLst/>
          </a:prstGeom>
          <a:solidFill>
            <a:srgbClr val="2A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923537"/>
            <a:ext cx="26974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E7ECEF"/>
                </a:solidFill>
                <a:latin typeface="Arial"/>
              </a:rPr>
              <a:t>Fraud/late-delivery rate gaps by region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923537"/>
            <a:ext cx="63000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AAB4BC"/>
                </a:solidFill>
                <a:latin typeface="Arial"/>
              </a:rPr>
              <a:t>Operational review: Western Europe (fraud), Central Africa &amp; South Asia (delivery)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38360" y="3923537"/>
            <a:ext cx="181051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5FBF90"/>
                </a:solidFill>
                <a:latin typeface="Arial"/>
              </a:rPr>
              <a:t>High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764785"/>
            <a:ext cx="11091672" cy="9525"/>
          </a:xfrm>
          <a:prstGeom prst="rect">
            <a:avLst/>
          </a:prstGeom>
          <a:solidFill>
            <a:srgbClr val="2A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774310"/>
            <a:ext cx="26974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E7ECEF"/>
                </a:solidFill>
                <a:latin typeface="Arial"/>
              </a:rPr>
              <a:t>Discount rate's effect on behavior is unproven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774310"/>
            <a:ext cx="63000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AAB4BC"/>
                </a:solidFill>
                <a:latin typeface="Arial"/>
              </a:rPr>
              <a:t>Run the randomized 4-arm test; build “offered, didn't buy” tracking first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4774310"/>
            <a:ext cx="181051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6D7982"/>
                </a:solidFill>
                <a:latin typeface="Arial"/>
              </a:rPr>
              <a:t>Low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2A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6D7982"/>
                </a:solidFill>
                <a:latin typeface="Arial"/>
              </a:rPr>
              <a:t>DATACO SUPPLY CHAIN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D798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>
                <a:solidFill>
                  <a:srgbClr val="E7ECEF"/>
                </a:solidFill>
                <a:latin typeface="Arial"/>
              </a:rP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3291840"/>
            <a:ext cx="1188720" cy="38100"/>
          </a:xfrm>
          <a:prstGeom prst="rect">
            <a:avLst/>
          </a:prstGeom>
          <a:solidFill>
            <a:srgbClr val="6FA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6FA8D6"/>
                </a:solidFill>
                <a:latin typeface="Arial"/>
              </a:rPr>
              <a:t>Which one or two should we move on first?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E7ECEF"/>
                </a:solidFill>
                <a:latin typeface="Arial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749039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AAB4BC"/>
                </a:solidFill>
                <a:latin typeface="Arial"/>
              </a:rPr>
              <a:t>Data window, definitions &amp;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2A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6D7982"/>
                </a:solidFill>
                <a:latin typeface="Arial"/>
              </a:rPr>
              <a:t>DATACO SUPPLY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D798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FA8D6"/>
                </a:solidFill>
                <a:latin typeface="Arial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E7ECEF"/>
                </a:solidFill>
                <a:latin typeface="Arial"/>
              </a:rPr>
              <a:t>Data window, definitions &amp; known gaps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2A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4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E7ECEF"/>
                </a:solidFill>
                <a:latin typeface="Arial"/>
              </a:rPr>
              <a:t>Data window:  </a:t>
            </a:r>
            <a:r>
              <a:rPr sz="1300" b="0">
                <a:solidFill>
                  <a:srgbClr val="AAB4BC"/>
                </a:solidFill>
                <a:latin typeface="Arial"/>
              </a:rPr>
              <a:t>180,519 order lines, Jan 2015–Jan 2018 (raw). Clean analysis window used for growth, trend, cohort, and region work: Jan 2015–Sep 2017 (171,962 order lines, 12,330 verified customers).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800" b="0">
                <a:solidFill>
                  <a:srgbClr val="AAB4BC"/>
                </a:solidFill>
                <a:latin typeface="Arial"/>
              </a:rPr>
              <a:t/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E7ECEF"/>
                </a:solidFill>
                <a:latin typeface="Arial"/>
              </a:rPr>
              <a:t>Known artifact:  </a:t>
            </a:r>
            <a:r>
              <a:rPr sz="1300" b="0">
                <a:solidFill>
                  <a:srgbClr val="AAB4BC"/>
                </a:solidFill>
                <a:latin typeface="Arial"/>
              </a:rPr>
              <a:t>Order composition changes structurally from Nov 2017 — every order becomes 1 line item, average order value falls from ~$620 to ~$156 by Jan 2018, while order counts hold or rise. Treated as a recording change, not a demand change.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800" b="0">
                <a:solidFill>
                  <a:srgbClr val="AAB4BC"/>
                </a:solidFill>
                <a:latin typeface="Arial"/>
              </a:rPr>
              <a:t/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E7ECEF"/>
                </a:solidFill>
                <a:latin typeface="Arial"/>
              </a:rPr>
              <a:t>Margin definition:  </a:t>
            </a:r>
            <a:r>
              <a:rPr sz="1300" b="0">
                <a:solidFill>
                  <a:srgbClr val="AAB4BC"/>
                </a:solidFill>
                <a:latin typeface="Arial"/>
              </a:rPr>
              <a:t>Profit ÷ Order Item Total (post-discount revenue) — not ÷ Sales (pre-discount list price), which understates margin. Verified against the dataset's own profit-ratio field.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800" b="0">
                <a:solidFill>
                  <a:srgbClr val="AAB4BC"/>
                </a:solidFill>
                <a:latin typeface="Arial"/>
              </a:rPr>
              <a:t/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E7ECEF"/>
                </a:solidFill>
                <a:latin typeface="Arial"/>
              </a:rPr>
              <a:t>Region-rotation caveat:  </a:t>
            </a:r>
            <a:r>
              <a:rPr sz="1300" b="0">
                <a:solidFill>
                  <a:srgbClr val="AAB4BC"/>
                </a:solidFill>
                <a:latin typeface="Arial"/>
              </a:rPr>
              <a:t>19 of 23 regions are active only 5–6 of 36 months, arriving/disappearing in cohorts. Any region-level ranking or trend must check months-active before it's trusted.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800" b="0">
                <a:solidFill>
                  <a:srgbClr val="AAB4BC"/>
                </a:solidFill>
                <a:latin typeface="Arial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2A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6D7982"/>
                </a:solidFill>
                <a:latin typeface="Arial"/>
              </a:rPr>
              <a:t>DATACO SUPPLY 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D798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FA8D6"/>
                </a:solidFill>
                <a:latin typeface="Arial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E7ECEF"/>
                </a:solidFill>
                <a:latin typeface="Arial"/>
              </a:rPr>
              <a:t>Methodology behind the statistical claims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2A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4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E7ECEF"/>
                </a:solidFill>
                <a:latin typeface="Arial"/>
              </a:rPr>
              <a:t>Region-level fraud/late-delivery signal:  </a:t>
            </a:r>
            <a:r>
              <a:rPr sz="1300" b="0">
                <a:solidFill>
                  <a:srgbClr val="AAB4BC"/>
                </a:solidFill>
                <a:latin typeface="Arial"/>
              </a:rPr>
              <a:t>Permutation test on rate spread by region (p=0.007 fraud, p=0.002 late-delivery) vs. by category (p=0.156, p=0.224) — region spread is real, category spread is noise.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800" b="0">
                <a:solidFill>
                  <a:srgbClr val="AAB4BC"/>
                </a:solidFill>
                <a:latin typeface="Arial"/>
              </a:rPr>
              <a:t/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E7ECEF"/>
                </a:solidFill>
                <a:latin typeface="Arial"/>
              </a:rPr>
              <a:t>Discount-rate mirage:  </a:t>
            </a:r>
            <a:r>
              <a:rPr sz="1300" b="0">
                <a:solidFill>
                  <a:srgbClr val="AAB4BC"/>
                </a:solidFill>
                <a:latin typeface="Arial"/>
              </a:rPr>
              <a:t>Every discount value was reshuffled at random across all rows and the same order-level aggregation rerun; the reshuffled data reproduced the same inverted-U curve as the real data, confirming the pattern is a property of order size, not of discount level.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800" b="0">
                <a:solidFill>
                  <a:srgbClr val="AAB4BC"/>
                </a:solidFill>
                <a:latin typeface="Arial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2A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6D7982"/>
                </a:solidFill>
                <a:latin typeface="Arial"/>
              </a:rPr>
              <a:t>DATACO SUPPLY 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D798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